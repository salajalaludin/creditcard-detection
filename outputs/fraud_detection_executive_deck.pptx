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9696d1aea844b5" /><Relationship Type="http://schemas.openxmlformats.org/officeDocument/2006/relationships/extended-properties" Target="/docProps/app.xml" Id="R8c407f176d7b4451" /><Relationship Type="http://schemas.openxmlformats.org/officeDocument/2006/relationships/officeDocument" Target="/ppt/presentation.xml" Id="R3c0b4b0bf3bc4576" /></Relationships>
</file>

<file path=ppt/presentation.xml><?xml version="1.0" encoding="utf-8"?>
<p:presentation xmlns:p="http://schemas.openxmlformats.org/presentationml/2006/main">
  <p:sldMasterIdLst>
    <p:sldMasterId xmlns:r="http://schemas.openxmlformats.org/officeDocument/2006/relationships" id="2147483648" r:id="R48911f077b324bce"/>
  </p:sldMasterIdLst>
  <p:notesMasterIdLst>
    <p:notesMasterId xmlns:r="http://schemas.openxmlformats.org/officeDocument/2006/relationships" r:id="Rd2f8e7dc8acb4d1d"/>
  </p:notesMasterIdLst>
  <p:sldIdLst>
    <p:sldId xmlns:r="http://schemas.openxmlformats.org/officeDocument/2006/relationships" id="256" r:id="R73c9cb24dcbe4cc1"/>
    <p:sldId xmlns:r="http://schemas.openxmlformats.org/officeDocument/2006/relationships" id="257" r:id="R6bb83957fa3d4fe7"/>
    <p:sldId xmlns:r="http://schemas.openxmlformats.org/officeDocument/2006/relationships" id="258" r:id="R2337d5b548e44747"/>
    <p:sldId xmlns:r="http://schemas.openxmlformats.org/officeDocument/2006/relationships" id="259" r:id="R93059f83a9404726"/>
    <p:sldId xmlns:r="http://schemas.openxmlformats.org/officeDocument/2006/relationships" id="260" r:id="R26ee0199363748ca"/>
    <p:sldId xmlns:r="http://schemas.openxmlformats.org/officeDocument/2006/relationships" id="261" r:id="R6394f90ed19a4886"/>
    <p:sldId xmlns:r="http://schemas.openxmlformats.org/officeDocument/2006/relationships" id="262" r:id="Rd63b0da849c245aa"/>
    <p:sldId xmlns:r="http://schemas.openxmlformats.org/officeDocument/2006/relationships" id="263" r:id="R4456f4372a3b4f7f"/>
    <p:sldId xmlns:r="http://schemas.openxmlformats.org/officeDocument/2006/relationships" id="264" r:id="Rc899aff6629b457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59adb76418433b" /><Relationship Type="http://schemas.openxmlformats.org/officeDocument/2006/relationships/slideMaster" Target="/ppt/slideMasters/slideMaster1.xml" Id="R48911f077b324bce" /><Relationship Type="http://schemas.openxmlformats.org/officeDocument/2006/relationships/notesMaster" Target="/ppt/notesMasters/notesMaster1.xml" Id="Rd2f8e7dc8acb4d1d" /><Relationship Type="http://schemas.openxmlformats.org/officeDocument/2006/relationships/presProps" Target="/ppt/presProps.xml" Id="Re3092239f1554d7f" /><Relationship Type="http://schemas.openxmlformats.org/officeDocument/2006/relationships/tableStyles" Target="/ppt/tableStyles.xml" Id="Rbfb42a6055ad4416" /><Relationship Type="http://schemas.openxmlformats.org/officeDocument/2006/relationships/slide" Target="/ppt/slides/slide1.xml" Id="R73c9cb24dcbe4cc1" /><Relationship Type="http://schemas.openxmlformats.org/officeDocument/2006/relationships/slide" Target="/ppt/slides/slide2.xml" Id="R6bb83957fa3d4fe7" /><Relationship Type="http://schemas.openxmlformats.org/officeDocument/2006/relationships/slide" Target="/ppt/slides/slide3.xml" Id="R2337d5b548e44747" /><Relationship Type="http://schemas.openxmlformats.org/officeDocument/2006/relationships/slide" Target="/ppt/slides/slide4.xml" Id="R93059f83a9404726" /><Relationship Type="http://schemas.openxmlformats.org/officeDocument/2006/relationships/slide" Target="/ppt/slides/slide5.xml" Id="R26ee0199363748ca" /><Relationship Type="http://schemas.openxmlformats.org/officeDocument/2006/relationships/slide" Target="/ppt/slides/slide6.xml" Id="R6394f90ed19a4886" /><Relationship Type="http://schemas.openxmlformats.org/officeDocument/2006/relationships/slide" Target="/ppt/slides/slide7.xml" Id="Rd63b0da849c245aa" /><Relationship Type="http://schemas.openxmlformats.org/officeDocument/2006/relationships/slide" Target="/ppt/slides/slide8.xml" Id="R4456f4372a3b4f7f" /><Relationship Type="http://schemas.openxmlformats.org/officeDocument/2006/relationships/slide" Target="/ppt/slides/slide9.xml" Id="Rc899aff6629b45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6e66a01f2348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1301a3b09b4b4c" /><Relationship Type="http://schemas.openxmlformats.org/officeDocument/2006/relationships/notesMaster" Target="/ppt/notesMasters/notesMaster1.xml" Id="Rda69447069204b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04b3bc27dc4978" /><Relationship Type="http://schemas.openxmlformats.org/officeDocument/2006/relationships/notesMaster" Target="/ppt/notesMasters/notesMaster1.xml" Id="Rebb504d967d64b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40f1800f7e4c7c" /><Relationship Type="http://schemas.openxmlformats.org/officeDocument/2006/relationships/notesMaster" Target="/ppt/notesMasters/notesMaster1.xml" Id="R9f3eaa420e5a46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d991944ab64096" /><Relationship Type="http://schemas.openxmlformats.org/officeDocument/2006/relationships/notesMaster" Target="/ppt/notesMasters/notesMaster1.xml" Id="R5736637a63ac46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eeb42ddc9e4834" /><Relationship Type="http://schemas.openxmlformats.org/officeDocument/2006/relationships/notesMaster" Target="/ppt/notesMasters/notesMaster1.xml" Id="Rf53ddb23989645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429cf65c634ce6" /><Relationship Type="http://schemas.openxmlformats.org/officeDocument/2006/relationships/notesMaster" Target="/ppt/notesMasters/notesMaster1.xml" Id="R085fa345b21c40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b5197573d944b1" /><Relationship Type="http://schemas.openxmlformats.org/officeDocument/2006/relationships/notesMaster" Target="/ppt/notesMasters/notesMaster1.xml" Id="R4a570af2408a46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de0afa25224d84" /><Relationship Type="http://schemas.openxmlformats.org/officeDocument/2006/relationships/notesMaster" Target="/ppt/notesMasters/notesMaster1.xml" Id="Ref64eccaefaf4f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625576cc6d4e30" /><Relationship Type="http://schemas.openxmlformats.org/officeDocument/2006/relationships/notesMaster" Target="/ppt/notesMasters/notesMaster1.xml" Id="R9111fe6718cb4e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36cc19a1ca40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754336a9614133" /><Relationship Type="http://schemas.openxmlformats.org/officeDocument/2006/relationships/slideLayout" Target="/ppt/slideLayouts/slideLayout1.xml" Id="R9ba29c4bc1b847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a29c4bc1b847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cc9961a6dd4a3d" /><Relationship Type="http://schemas.openxmlformats.org/officeDocument/2006/relationships/notesSlide" Target="/ppt/notesSlides/notesSlide1.xml" Id="R90c962087daa48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8495b6a2444302" /><Relationship Type="http://schemas.openxmlformats.org/officeDocument/2006/relationships/notesSlide" Target="/ppt/notesSlides/notesSlide2.xml" Id="Rb677f6a13c1e40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fe09b06c2f4b0b" /><Relationship Type="http://schemas.openxmlformats.org/officeDocument/2006/relationships/notesSlide" Target="/ppt/notesSlides/notesSlide3.xml" Id="Ra57e2f49edcc47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13ac28e28d4840" /><Relationship Type="http://schemas.openxmlformats.org/officeDocument/2006/relationships/image" Target="/ppt/media/image.png" Id="Ra21e8cb28c794e9e" /><Relationship Type="http://schemas.openxmlformats.org/officeDocument/2006/relationships/notesSlide" Target="/ppt/notesSlides/notesSlide4.xml" Id="R3786b887a25647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1ad08bc7614b46" /><Relationship Type="http://schemas.openxmlformats.org/officeDocument/2006/relationships/notesSlide" Target="/ppt/notesSlides/notesSlide5.xml" Id="R16b91732b5ef41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96f8426ef043f3" /><Relationship Type="http://schemas.openxmlformats.org/officeDocument/2006/relationships/notesSlide" Target="/ppt/notesSlides/notesSlide6.xml" Id="R2bf9ec8067934b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258a858e2634ea4" /><Relationship Type="http://schemas.openxmlformats.org/officeDocument/2006/relationships/image" Target="/ppt/media/image2.png" Id="R2e8e800a2e2b4e84" /><Relationship Type="http://schemas.openxmlformats.org/officeDocument/2006/relationships/notesSlide" Target="/ppt/notesSlides/notesSlide7.xml" Id="R09e2b78cefdd44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6c4c611b7a4ab9" /><Relationship Type="http://schemas.openxmlformats.org/officeDocument/2006/relationships/notesSlide" Target="/ppt/notesSlides/notesSlide8.xml" Id="Re8e8ffe59a7c42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0f48319a8948f8" /><Relationship Type="http://schemas.openxmlformats.org/officeDocument/2006/relationships/notesSlide" Target="/ppt/notesSlides/notesSlide9.xml" Id="R8d8b1d262b1c4e6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Title-3-1">
            <a:extLst xmlns:a="http://schemas.openxmlformats.org/drawingml/2006/main">
              <a:ext uri="{FF2B5EF4-FFF2-40B4-BE49-F238E27FC236}">
                <a16:creationId xmlns:a16="http://schemas.microsoft.com/office/drawing/2014/main" id="{BE0DBCD9-DA08-4255-965E-8937C27C8E77}"/>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Fraud Detection &amp;
Transaction Risk Scoring</a:t>
            </a:r>
          </a:p>
        </p:txBody>
      </p:sp>
      <p:sp>
        <p:nvSpPr>
          <p:cNvPr id="2" name="Subtitle-4-2">
            <a:extLst xmlns:a="http://schemas.openxmlformats.org/drawingml/2006/main">
              <a:ext uri="{FF2B5EF4-FFF2-40B4-BE49-F238E27FC236}">
                <a16:creationId xmlns:a16="http://schemas.microsoft.com/office/drawing/2014/main" id="{E56A4240-B983-42BC-BA6B-0225E9AA4556}"/>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Model performance, risk policy, and production readiness</a:t>
            </a:r>
          </a:p>
        </p:txBody>
      </p:sp>
      <p:sp>
        <p:nvSpPr>
          <p:cNvPr id="3" name="Subtitle-4-3">
            <a:extLst xmlns:a="http://schemas.openxmlformats.org/drawingml/2006/main">
              <a:ext uri="{FF2B5EF4-FFF2-40B4-BE49-F238E27FC236}">
                <a16:creationId xmlns:a16="http://schemas.microsoft.com/office/drawing/2014/main" id="{EFF24622-028A-4B33-9344-68B0900518DE}"/>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EXECUTIVE BRIEF</a:t>
            </a:r>
          </a:p>
        </p:txBody>
      </p:sp>
    </p:spTree>
    <p:extLst>
      <p:ext uri="{BB962C8B-B14F-4D97-AF65-F5344CB8AC3E}">
        <p14:creationId xmlns:p14="http://schemas.microsoft.com/office/powerpoint/2010/main" val="100753216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Rounded-Rectangle-5-1">
            <a:extLst xmlns:a="http://schemas.openxmlformats.org/drawingml/2006/main">
              <a:ext uri="{FF2B5EF4-FFF2-40B4-BE49-F238E27FC236}">
                <a16:creationId xmlns:a16="http://schemas.microsoft.com/office/drawing/2014/main" id="{8CD777D6-4BFE-49A6-A1F0-E31DC0429B29}"/>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09496186-D08C-43A8-B462-3E563A6DC0BB}"/>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1E8301F7-B124-42EE-B281-598F6C70CF2C}"/>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75D2984-FAE5-4CF4-B9BD-6F97B5F7EA0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5" name="Title-2-5">
            <a:extLst xmlns:a="http://schemas.openxmlformats.org/drawingml/2006/main">
              <a:ext uri="{FF2B5EF4-FFF2-40B4-BE49-F238E27FC236}">
                <a16:creationId xmlns:a16="http://schemas.microsoft.com/office/drawing/2014/main" id="{D502AB3F-603D-46F8-88E3-7D862A6A2E0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 rare-event problem demands the right operating metrics</a:t>
            </a:r>
          </a:p>
        </p:txBody>
      </p:sp>
      <p:sp>
        <p:nvSpPr>
          <p:cNvPr id="6" name="Content-Placeholder-9-6">
            <a:extLst xmlns:a="http://schemas.openxmlformats.org/drawingml/2006/main">
              <a:ext uri="{FF2B5EF4-FFF2-40B4-BE49-F238E27FC236}">
                <a16:creationId xmlns:a16="http://schemas.microsoft.com/office/drawing/2014/main" id="{6BBFFE75-1969-4C5C-B37B-F76D1636B69A}"/>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Raw transactions</a:t>
            </a:r>
          </a:p>
        </p:txBody>
      </p:sp>
      <p:sp>
        <p:nvSpPr>
          <p:cNvPr id="7" name="Content-Placeholder-10-7">
            <a:extLst xmlns:a="http://schemas.openxmlformats.org/drawingml/2006/main">
              <a:ext uri="{FF2B5EF4-FFF2-40B4-BE49-F238E27FC236}">
                <a16:creationId xmlns:a16="http://schemas.microsoft.com/office/drawing/2014/main" id="{CEA9222B-7DEE-455B-BFB4-8EFE87B2EB5C}"/>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Fraud cases after deduplication</a:t>
            </a:r>
          </a:p>
        </p:txBody>
      </p:sp>
      <p:sp>
        <p:nvSpPr>
          <p:cNvPr id="8" name="Content-Placeholder-11-8">
            <a:extLst xmlns:a="http://schemas.openxmlformats.org/drawingml/2006/main">
              <a:ext uri="{FF2B5EF4-FFF2-40B4-BE49-F238E27FC236}">
                <a16:creationId xmlns:a16="http://schemas.microsoft.com/office/drawing/2014/main" id="{64F07AF6-D092-453C-BCB4-A3A2CE39993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Fraud rate after cleaning</a:t>
            </a:r>
          </a:p>
        </p:txBody>
      </p:sp>
      <p:sp>
        <p:nvSpPr>
          <p:cNvPr id="9" name="Content-Placeholder-9-9">
            <a:extLst xmlns:a="http://schemas.openxmlformats.org/drawingml/2006/main">
              <a:ext uri="{FF2B5EF4-FFF2-40B4-BE49-F238E27FC236}">
                <a16:creationId xmlns:a16="http://schemas.microsoft.com/office/drawing/2014/main" id="{86C4AB93-2598-4271-B6A4-E2B613102E8D}"/>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284,807</a:t>
            </a:r>
          </a:p>
        </p:txBody>
      </p:sp>
      <p:sp>
        <p:nvSpPr>
          <p:cNvPr id="10" name="Content-Placeholder-9-10">
            <a:extLst xmlns:a="http://schemas.openxmlformats.org/drawingml/2006/main">
              <a:ext uri="{FF2B5EF4-FFF2-40B4-BE49-F238E27FC236}">
                <a16:creationId xmlns:a16="http://schemas.microsoft.com/office/drawing/2014/main" id="{7AD299B7-319E-4D1C-8D07-6F142D27F39B}"/>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0.17%</a:t>
            </a:r>
          </a:p>
        </p:txBody>
      </p:sp>
      <p:sp>
        <p:nvSpPr>
          <p:cNvPr id="11" name="Content-Placeholder-9-11">
            <a:extLst xmlns:a="http://schemas.openxmlformats.org/drawingml/2006/main">
              <a:ext uri="{FF2B5EF4-FFF2-40B4-BE49-F238E27FC236}">
                <a16:creationId xmlns:a16="http://schemas.microsoft.com/office/drawing/2014/main" id="{A7578BCB-6297-43C6-A53D-00A7476F1CC3}"/>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473</a:t>
            </a:r>
          </a:p>
        </p:txBody>
      </p:sp>
      <p:sp>
        <p:nvSpPr>
          <p:cNvPr id="12" name="Content-Placeholder-15-12">
            <a:extLst xmlns:a="http://schemas.openxmlformats.org/drawingml/2006/main">
              <a:ext uri="{FF2B5EF4-FFF2-40B4-BE49-F238E27FC236}">
                <a16:creationId xmlns:a16="http://schemas.microsoft.com/office/drawing/2014/main" id="{F2D6D9D1-D325-4910-B660-520E76FF6854}"/>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DATA FOUNDATION</a:t>
            </a:r>
          </a:p>
          <a:p xmlns:a="http://schemas.openxmlformats.org/drawingml/2006/main">
            <a:pPr algn="l">
              <a:defRPr sz="1600">
                <a:solidFill>
                  <a:srgbClr val="000000"/>
                </a:solidFill>
                <a:latin typeface="Helvetica Neue"/>
                <a:ea typeface="Helvetica Neue"/>
                <a:cs typeface="Helvetica Neue"/>
              </a:defRPr>
            </a:pPr>
            <a:r>
              <a:t>Exact duplicates were removed before splitting. Accuracy is de-emphasized in favor of PR-AUC, recall, precision, F1, and alert volume.</a:t>
            </a:r>
          </a:p>
        </p:txBody>
      </p:sp>
    </p:spTree>
    <p:extLst>
      <p:ext uri="{BB962C8B-B14F-4D97-AF65-F5344CB8AC3E}">
        <p14:creationId xmlns:p14="http://schemas.microsoft.com/office/powerpoint/2010/main" val="1991499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Number-Placeholder-3-2">
            <a:extLst xmlns:a="http://schemas.openxmlformats.org/drawingml/2006/main">
              <a:ext uri="{FF2B5EF4-FFF2-40B4-BE49-F238E27FC236}">
                <a16:creationId xmlns:a16="http://schemas.microsoft.com/office/drawing/2014/main" id="{72E8018B-2FD2-430E-A2C3-E557AE1A864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Title-10-3">
            <a:extLst xmlns:a="http://schemas.openxmlformats.org/drawingml/2006/main">
              <a:ext uri="{FF2B5EF4-FFF2-40B4-BE49-F238E27FC236}">
                <a16:creationId xmlns:a16="http://schemas.microsoft.com/office/drawing/2014/main" id="{CF029124-515D-4710-8C61-CEEE4CEDC93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pipeline separates learning, policy selection, and operations</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52ADD886-CB1F-4A22-996E-8CF5E44BDCB7}"/>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24CD0683-451D-4AAD-9B37-99D62A5B64C6}"/>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0B8025B6-EAAD-4FD2-80FC-2BF5AA8170A7}"/>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158CDA06-CDE6-4B0E-9A6D-FA2F03253AEF}"/>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LEARN</a:t>
            </a:r>
          </a:p>
        </p:txBody>
      </p:sp>
      <p:sp>
        <p:nvSpPr>
          <p:cNvPr id="8" name="Content-Placeholder-15-9">
            <a:extLst xmlns:a="http://schemas.openxmlformats.org/drawingml/2006/main">
              <a:ext uri="{FF2B5EF4-FFF2-40B4-BE49-F238E27FC236}">
                <a16:creationId xmlns:a16="http://schemas.microsoft.com/office/drawing/2014/main" id="{3FCF4F21-D7A8-42BC-AABB-2706D459E299}"/>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DECIDE</a:t>
            </a:r>
          </a:p>
        </p:txBody>
      </p:sp>
      <p:sp>
        <p:nvSpPr>
          <p:cNvPr id="9" name="Content-Placeholder-15-10">
            <a:extLst xmlns:a="http://schemas.openxmlformats.org/drawingml/2006/main">
              <a:ext uri="{FF2B5EF4-FFF2-40B4-BE49-F238E27FC236}">
                <a16:creationId xmlns:a16="http://schemas.microsoft.com/office/drawing/2014/main" id="{CF2CEEC5-7254-4B8B-B9C7-3DF8A3DCD427}"/>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OPERATE</a:t>
            </a:r>
          </a:p>
        </p:txBody>
      </p:sp>
      <p:sp>
        <p:nvSpPr>
          <p:cNvPr id="10" name="Text-Placeholder-16-11">
            <a:extLst xmlns:a="http://schemas.openxmlformats.org/drawingml/2006/main">
              <a:ext uri="{FF2B5EF4-FFF2-40B4-BE49-F238E27FC236}">
                <a16:creationId xmlns:a16="http://schemas.microsoft.com/office/drawing/2014/main" id="{703C3E37-8CEA-4CCE-94DF-EFC95E4294DE}"/>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Select policy</a:t>
            </a:r>
          </a:p>
          <a:p xmlns:a="http://schemas.openxmlformats.org/drawingml/2006/main">
            <a:pPr algn="l">
              <a:defRPr sz="2400">
                <a:solidFill>
                  <a:srgbClr val="000000"/>
                </a:solidFill>
                <a:latin typeface="Helvetica Neue"/>
                <a:ea typeface="Helvetica Neue"/>
                <a:cs typeface="Helvetica Neue"/>
              </a:defRPr>
            </a:pPr>
            <a:r>
              <a:t>Validation drives model and threshold selection; costs remain configurable.</a:t>
            </a:r>
          </a:p>
        </p:txBody>
      </p:sp>
      <p:sp>
        <p:nvSpPr>
          <p:cNvPr id="11" name="Text-Placeholder-16-12">
            <a:extLst xmlns:a="http://schemas.openxmlformats.org/drawingml/2006/main">
              <a:ext uri="{FF2B5EF4-FFF2-40B4-BE49-F238E27FC236}">
                <a16:creationId xmlns:a16="http://schemas.microsoft.com/office/drawing/2014/main" id="{101AAB04-0D18-4030-A66E-C6E947E33FDC}"/>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Train safely</a:t>
            </a:r>
          </a:p>
          <a:p xmlns:a="http://schemas.openxmlformats.org/drawingml/2006/main">
            <a:pPr algn="l">
              <a:defRPr sz="2400">
                <a:solidFill>
                  <a:srgbClr val="000000"/>
                </a:solidFill>
                <a:latin typeface="Helvetica Neue"/>
                <a:ea typeface="Helvetica Neue"/>
                <a:cs typeface="Helvetica Neue"/>
              </a:defRPr>
            </a:pPr>
            <a:r>
              <a:t>Preprocessing and resampling stay inside the training pipeline.</a:t>
            </a:r>
          </a:p>
        </p:txBody>
      </p:sp>
      <p:sp>
        <p:nvSpPr>
          <p:cNvPr id="12" name="Text-Placeholder-16-13">
            <a:extLst xmlns:a="http://schemas.openxmlformats.org/drawingml/2006/main">
              <a:ext uri="{FF2B5EF4-FFF2-40B4-BE49-F238E27FC236}">
                <a16:creationId xmlns:a16="http://schemas.microsoft.com/office/drawing/2014/main" id="{BF6D167F-DE7A-4028-B633-D6A9B1B8AC15}"/>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Prioritize review</a:t>
            </a:r>
          </a:p>
          <a:p xmlns:a="http://schemas.openxmlformats.org/drawingml/2006/main">
            <a:pPr algn="l">
              <a:defRPr sz="2400">
                <a:solidFill>
                  <a:srgbClr val="000000"/>
                </a:solidFill>
                <a:latin typeface="Helvetica Neue"/>
                <a:ea typeface="Helvetica Neue"/>
                <a:cs typeface="Helvetica Neue"/>
              </a:defRPr>
            </a:pPr>
            <a:r>
              <a:t>Risk scores produce a ranked, human-in-the-loop investigation queue.</a:t>
            </a:r>
          </a:p>
        </p:txBody>
      </p:sp>
    </p:spTree>
    <p:extLst>
      <p:ext uri="{BB962C8B-B14F-4D97-AF65-F5344CB8AC3E}">
        <p14:creationId xmlns:p14="http://schemas.microsoft.com/office/powerpoint/2010/main" val="7760984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Google-Shape-532-p58-2">
            <a:extLst xmlns:a="http://schemas.openxmlformats.org/drawingml/2006/main">
              <a:ext uri="{FF2B5EF4-FFF2-40B4-BE49-F238E27FC236}">
                <a16:creationId xmlns:a16="http://schemas.microsoft.com/office/drawing/2014/main" id="{14EC8A8E-8673-43CB-BE46-546F3085C11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Google-Shape-533-p58-3">
            <a:extLst xmlns:a="http://schemas.openxmlformats.org/drawingml/2006/main">
              <a:ext uri="{FF2B5EF4-FFF2-40B4-BE49-F238E27FC236}">
                <a16:creationId xmlns:a16="http://schemas.microsoft.com/office/drawing/2014/main" id="{B5C5EFD2-6495-404F-8CBB-D157B59001A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Model performance at a glance</a:t>
            </a:r>
          </a:p>
        </p:txBody>
      </p:sp>
      <p:sp>
        <p:nvSpPr>
          <p:cNvPr id="3" name="Picture-3-4-backing">
            <a:extLst xmlns:a="http://schemas.openxmlformats.org/drawingml/2006/main">
              <a:ext uri="{FF2B5EF4-FFF2-40B4-BE49-F238E27FC236}">
                <a16:creationId xmlns:a16="http://schemas.microsoft.com/office/drawing/2014/main" id="{1545561B-F6F0-4050-9A72-0D1601A56FC4}"/>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4507109F-2614-4ABA-8284-CE042E417CA6}"/>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Model search</a:t>
            </a:r>
          </a:p>
          <a:p xmlns:a="http://schemas.openxmlformats.org/drawingml/2006/main">
            <a:pPr algn="l">
              <a:defRPr sz="2400">
                <a:solidFill>
                  <a:srgbClr val="000000"/>
                </a:solidFill>
                <a:latin typeface="Helvetica Neue"/>
                <a:ea typeface="Helvetica Neue"/>
                <a:cs typeface="Helvetica Neue"/>
              </a:defRPr>
            </a:pPr>
            <a:r>
              <a:t>Class weighting, undersampling, SMOTE, Random Forest, Extra Trees, gradient boosting, XGBoost, LightGBM, CatBoost, and weighted ensembles were compared.
Extra Trees produced the best observed holdout F1, while PR curves reveal the precision–recall trade-off hidden by accuracy.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21e8cb28c794e9e"/>
          <a:stretch xmlns:a="http://schemas.openxmlformats.org/drawingml/2006/main"/>
        </p:blipFill>
        <p:spPr>
          <a:xfrm xmlns:a="http://schemas.openxmlformats.org/drawingml/2006/main">
            <a:off x="6269069" y="1350867"/>
            <a:ext cx="5539740" cy="3693160"/>
          </a:xfrm>
          <a:prstGeom xmlns:a="http://schemas.openxmlformats.org/drawingml/2006/main" prst="roundRect">
            <a:avLst/>
          </a:prstGeom>
        </p:spPr>
      </p:pic>
    </p:spTree>
    <p:extLst>
      <p:ext uri="{BB962C8B-B14F-4D97-AF65-F5344CB8AC3E}">
        <p14:creationId xmlns:p14="http://schemas.microsoft.com/office/powerpoint/2010/main" val="1016268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Rounded-Rectangle-5-1">
            <a:extLst xmlns:a="http://schemas.openxmlformats.org/drawingml/2006/main">
              <a:ext uri="{FF2B5EF4-FFF2-40B4-BE49-F238E27FC236}">
                <a16:creationId xmlns:a16="http://schemas.microsoft.com/office/drawing/2014/main" id="{2ED02FD2-94A4-4985-8345-2CB439EB5976}"/>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91AADEF2-C983-422E-B57E-CC712C15EC0A}"/>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578EB9BA-30C9-43AD-B1E9-52EBC3574EE4}"/>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6BED8D99-2F0B-48DE-9403-3EAD25C9B82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5" name="Title-2-5">
            <a:extLst xmlns:a="http://schemas.openxmlformats.org/drawingml/2006/main">
              <a:ext uri="{FF2B5EF4-FFF2-40B4-BE49-F238E27FC236}">
                <a16:creationId xmlns:a16="http://schemas.microsoft.com/office/drawing/2014/main" id="{C8ACFC70-2052-41CF-89BC-CCC3B7F04BA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active policy is precise, but it still misses material fraud</a:t>
            </a:r>
          </a:p>
        </p:txBody>
      </p:sp>
      <p:sp>
        <p:nvSpPr>
          <p:cNvPr id="6" name="Content-Placeholder-9-6">
            <a:extLst xmlns:a="http://schemas.openxmlformats.org/drawingml/2006/main">
              <a:ext uri="{FF2B5EF4-FFF2-40B4-BE49-F238E27FC236}">
                <a16:creationId xmlns:a16="http://schemas.microsoft.com/office/drawing/2014/main" id="{E9E5F2A3-D60F-4C18-BE04-A5DD34D36C8B}"/>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Test precision</a:t>
            </a:r>
          </a:p>
        </p:txBody>
      </p:sp>
      <p:sp>
        <p:nvSpPr>
          <p:cNvPr id="7" name="Content-Placeholder-10-7">
            <a:extLst xmlns:a="http://schemas.openxmlformats.org/drawingml/2006/main">
              <a:ext uri="{FF2B5EF4-FFF2-40B4-BE49-F238E27FC236}">
                <a16:creationId xmlns:a16="http://schemas.microsoft.com/office/drawing/2014/main" id="{E837A14A-3445-42C3-931C-2ACF7DB19E0B}"/>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Test F1</a:t>
            </a:r>
          </a:p>
        </p:txBody>
      </p:sp>
      <p:sp>
        <p:nvSpPr>
          <p:cNvPr id="8" name="Content-Placeholder-11-8">
            <a:extLst xmlns:a="http://schemas.openxmlformats.org/drawingml/2006/main">
              <a:ext uri="{FF2B5EF4-FFF2-40B4-BE49-F238E27FC236}">
                <a16:creationId xmlns:a16="http://schemas.microsoft.com/office/drawing/2014/main" id="{F65C0E06-7E02-474C-A802-211EB06DE194}"/>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Test recall</a:t>
            </a:r>
          </a:p>
        </p:txBody>
      </p:sp>
      <p:sp>
        <p:nvSpPr>
          <p:cNvPr id="9" name="Content-Placeholder-9-9">
            <a:extLst xmlns:a="http://schemas.openxmlformats.org/drawingml/2006/main">
              <a:ext uri="{FF2B5EF4-FFF2-40B4-BE49-F238E27FC236}">
                <a16:creationId xmlns:a16="http://schemas.microsoft.com/office/drawing/2014/main" id="{4AC0D23C-A3F0-4DAE-ABD4-19DC4927D140}"/>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94.83%</a:t>
            </a:r>
          </a:p>
        </p:txBody>
      </p:sp>
      <p:sp>
        <p:nvSpPr>
          <p:cNvPr id="10" name="Content-Placeholder-9-10">
            <a:extLst xmlns:a="http://schemas.openxmlformats.org/drawingml/2006/main">
              <a:ext uri="{FF2B5EF4-FFF2-40B4-BE49-F238E27FC236}">
                <a16:creationId xmlns:a16="http://schemas.microsoft.com/office/drawing/2014/main" id="{B1C0274C-5362-4734-A14B-3F643A9D4655}"/>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77.46%</a:t>
            </a:r>
          </a:p>
        </p:txBody>
      </p:sp>
      <p:sp>
        <p:nvSpPr>
          <p:cNvPr id="11" name="Content-Placeholder-9-11">
            <a:extLst xmlns:a="http://schemas.openxmlformats.org/drawingml/2006/main">
              <a:ext uri="{FF2B5EF4-FFF2-40B4-BE49-F238E27FC236}">
                <a16:creationId xmlns:a16="http://schemas.microsoft.com/office/drawing/2014/main" id="{767878BD-6036-4353-A496-283EF77376D3}"/>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85.27%</a:t>
            </a:r>
          </a:p>
        </p:txBody>
      </p:sp>
      <p:sp>
        <p:nvSpPr>
          <p:cNvPr id="12" name="Content-Placeholder-15-12">
            <a:extLst xmlns:a="http://schemas.openxmlformats.org/drawingml/2006/main">
              <a:ext uri="{FF2B5EF4-FFF2-40B4-BE49-F238E27FC236}">
                <a16:creationId xmlns:a16="http://schemas.microsoft.com/office/drawing/2014/main" id="{72BAC38F-70FD-4C23-B768-6C7578CDB113}"/>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ACTIVE EXTRA TREES POLICY</a:t>
            </a:r>
          </a:p>
          <a:p xmlns:a="http://schemas.openxmlformats.org/drawingml/2006/main">
            <a:pPr algn="l">
              <a:defRPr sz="1600">
                <a:solidFill>
                  <a:srgbClr val="000000"/>
                </a:solidFill>
                <a:latin typeface="Helvetica Neue"/>
                <a:ea typeface="Helvetica Neue"/>
                <a:cs typeface="Helvetica Neue"/>
              </a:defRPr>
            </a:pPr>
            <a:r>
              <a:t>Threshold 0.3783 yields 58 alerts from 42,559 test transactions: 55 true positives, 3 false positives, and 16 false negatives.</a:t>
            </a:r>
          </a:p>
        </p:txBody>
      </p:sp>
    </p:spTree>
    <p:extLst>
      <p:ext uri="{BB962C8B-B14F-4D97-AF65-F5344CB8AC3E}">
        <p14:creationId xmlns:p14="http://schemas.microsoft.com/office/powerpoint/2010/main" val="38443606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Number-Placeholder-1-2">
            <a:extLst xmlns:a="http://schemas.openxmlformats.org/drawingml/2006/main">
              <a:ext uri="{FF2B5EF4-FFF2-40B4-BE49-F238E27FC236}">
                <a16:creationId xmlns:a16="http://schemas.microsoft.com/office/drawing/2014/main" id="{630211A7-A698-4A29-A442-AC3A45E155B6}"/>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Title-2-3">
            <a:extLst xmlns:a="http://schemas.openxmlformats.org/drawingml/2006/main">
              <a:ext uri="{FF2B5EF4-FFF2-40B4-BE49-F238E27FC236}">
                <a16:creationId xmlns:a16="http://schemas.microsoft.com/office/drawing/2014/main" id="{67AAEF40-833F-433B-8E48-AC970839DEF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Risk bands translate model output into review actions</a:t>
            </a:r>
          </a:p>
        </p:txBody>
      </p:sp>
      <p:sp>
        <p:nvSpPr>
          <p:cNvPr id="3" name="Content-Placeholder-9-4">
            <a:extLst xmlns:a="http://schemas.openxmlformats.org/drawingml/2006/main">
              <a:ext uri="{FF2B5EF4-FFF2-40B4-BE49-F238E27FC236}">
                <a16:creationId xmlns:a16="http://schemas.microsoft.com/office/drawing/2014/main" id="{307D3AD8-699D-4E11-A699-82479023DF9E}"/>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LOW · 0–37.83</a:t>
            </a:r>
          </a:p>
          <a:p xmlns:a="http://schemas.openxmlformats.org/drawingml/2006/main">
            <a:pPr algn="l">
              <a:defRPr sz="2400">
                <a:solidFill>
                  <a:srgbClr val="000000"/>
                </a:solidFill>
                <a:latin typeface="Helvetica Neue"/>
                <a:ea typeface="Helvetica Neue"/>
                <a:cs typeface="Helvetica Neue"/>
              </a:defRPr>
            </a:pPr>
            <a:r>
              <a:t>Process normally; retain for monitoring and audit sampling.</a:t>
            </a:r>
          </a:p>
        </p:txBody>
      </p:sp>
      <p:sp>
        <p:nvSpPr>
          <p:cNvPr id="4" name="Content-Placeholder-10-5">
            <a:extLst xmlns:a="http://schemas.openxmlformats.org/drawingml/2006/main">
              <a:ext uri="{FF2B5EF4-FFF2-40B4-BE49-F238E27FC236}">
                <a16:creationId xmlns:a16="http://schemas.microsoft.com/office/drawing/2014/main" id="{7523A022-D599-416F-AA6E-8DC575C7D281}"/>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MEDIUM · 37.83–58.56</a:t>
            </a:r>
          </a:p>
          <a:p xmlns:a="http://schemas.openxmlformats.org/drawingml/2006/main">
            <a:pPr algn="l">
              <a:defRPr sz="2400">
                <a:solidFill>
                  <a:srgbClr val="000000"/>
                </a:solidFill>
                <a:latin typeface="Helvetica Neue"/>
                <a:ea typeface="Helvetica Neue"/>
                <a:cs typeface="Helvetica Neue"/>
              </a:defRPr>
            </a:pPr>
            <a:r>
              <a:t>Enhanced monitoring and contextual checks.</a:t>
            </a:r>
          </a:p>
        </p:txBody>
      </p:sp>
      <p:sp>
        <p:nvSpPr>
          <p:cNvPr id="5" name="Content-Placeholder-9-6">
            <a:extLst xmlns:a="http://schemas.openxmlformats.org/drawingml/2006/main">
              <a:ext uri="{FF2B5EF4-FFF2-40B4-BE49-F238E27FC236}">
                <a16:creationId xmlns:a16="http://schemas.microsoft.com/office/drawing/2014/main" id="{25F24385-4A7F-4975-AD67-A66BD4CB0C77}"/>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HIGH · 58.56–79.28</a:t>
            </a:r>
          </a:p>
          <a:p xmlns:a="http://schemas.openxmlformats.org/drawingml/2006/main">
            <a:pPr algn="l">
              <a:defRPr sz="2400">
                <a:solidFill>
                  <a:srgbClr val="000000"/>
                </a:solidFill>
                <a:latin typeface="Helvetica Neue"/>
                <a:ea typeface="Helvetica Neue"/>
                <a:cs typeface="Helvetica Neue"/>
              </a:defRPr>
            </a:pPr>
            <a:r>
              <a:t>Manual review based on queue capacity.</a:t>
            </a:r>
          </a:p>
        </p:txBody>
      </p:sp>
      <p:sp>
        <p:nvSpPr>
          <p:cNvPr id="6" name="Content-Placeholder-10-7">
            <a:extLst xmlns:a="http://schemas.openxmlformats.org/drawingml/2006/main">
              <a:ext uri="{FF2B5EF4-FFF2-40B4-BE49-F238E27FC236}">
                <a16:creationId xmlns:a16="http://schemas.microsoft.com/office/drawing/2014/main" id="{4F20035D-992E-4AE8-910F-1410B5D4B115}"/>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CRITICAL · 79.28–100</a:t>
            </a:r>
          </a:p>
          <a:p xmlns:a="http://schemas.openxmlformats.org/drawingml/2006/main">
            <a:pPr algn="l">
              <a:defRPr sz="2400">
                <a:solidFill>
                  <a:srgbClr val="000000"/>
                </a:solidFill>
                <a:latin typeface="Helvetica Neue"/>
                <a:ea typeface="Helvetica Neue"/>
                <a:cs typeface="Helvetica Neue"/>
              </a:defRPr>
            </a:pPr>
            <a:r>
              <a:t>Priority investigation; no automatic decline.</a:t>
            </a:r>
          </a:p>
        </p:txBody>
      </p:sp>
    </p:spTree>
    <p:extLst>
      <p:ext uri="{BB962C8B-B14F-4D97-AF65-F5344CB8AC3E}">
        <p14:creationId xmlns:p14="http://schemas.microsoft.com/office/powerpoint/2010/main" val="104389175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Google-Shape-532-p58-2">
            <a:extLst xmlns:a="http://schemas.openxmlformats.org/drawingml/2006/main">
              <a:ext uri="{FF2B5EF4-FFF2-40B4-BE49-F238E27FC236}">
                <a16:creationId xmlns:a16="http://schemas.microsoft.com/office/drawing/2014/main" id="{A087CA04-0466-4F53-8B17-A42EEF17141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EAC83BA8-F14C-4851-A246-7F25017B8C3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What drives the model score?</a:t>
            </a:r>
          </a:p>
        </p:txBody>
      </p:sp>
      <p:sp>
        <p:nvSpPr>
          <p:cNvPr id="3" name="Picture-3-4-backing">
            <a:extLst xmlns:a="http://schemas.openxmlformats.org/drawingml/2006/main">
              <a:ext uri="{FF2B5EF4-FFF2-40B4-BE49-F238E27FC236}">
                <a16:creationId xmlns:a16="http://schemas.microsoft.com/office/drawing/2014/main" id="{8FCE9029-CF1F-400E-B40B-2EEB8A68F353}"/>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7400FD52-4ABC-4047-B5C8-450665D2E305}"/>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Relative importance</a:t>
            </a:r>
          </a:p>
          <a:p xmlns:a="http://schemas.openxmlformats.org/drawingml/2006/main">
            <a:pPr algn="l">
              <a:defRPr sz="2400">
                <a:solidFill>
                  <a:srgbClr val="000000"/>
                </a:solidFill>
                <a:latin typeface="Helvetica Neue"/>
                <a:ea typeface="Helvetica Neue"/>
                <a:cs typeface="Helvetica Neue"/>
              </a:defRPr>
            </a:pPr>
            <a:r>
              <a:t>Permutation importance ranks V14, V4, V17, V16, V11, V12, and V10 highest.
These features support model governance, but anonymous PCA variables cannot provide business-causal explanations.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e8e800a2e2b4e84"/>
          <a:stretch xmlns:a="http://schemas.openxmlformats.org/drawingml/2006/main"/>
        </p:blipFill>
        <p:spPr>
          <a:xfrm xmlns:a="http://schemas.openxmlformats.org/drawingml/2006/main">
            <a:off x="6269069" y="1350867"/>
            <a:ext cx="5539740" cy="3693160"/>
          </a:xfrm>
          <a:prstGeom xmlns:a="http://schemas.openxmlformats.org/drawingml/2006/main" prst="roundRect">
            <a:avLst/>
          </a:prstGeom>
        </p:spPr>
      </p:pic>
    </p:spTree>
    <p:extLst>
      <p:ext uri="{BB962C8B-B14F-4D97-AF65-F5344CB8AC3E}">
        <p14:creationId xmlns:p14="http://schemas.microsoft.com/office/powerpoint/2010/main" val="11913353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Number-Placeholder-1-2">
            <a:extLst xmlns:a="http://schemas.openxmlformats.org/drawingml/2006/main">
              <a:ext uri="{FF2B5EF4-FFF2-40B4-BE49-F238E27FC236}">
                <a16:creationId xmlns:a16="http://schemas.microsoft.com/office/drawing/2014/main" id="{EA1E9252-4988-4734-9CC7-366812E78B77}"/>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2" name="Title-2-3">
            <a:extLst xmlns:a="http://schemas.openxmlformats.org/drawingml/2006/main">
              <a:ext uri="{FF2B5EF4-FFF2-40B4-BE49-F238E27FC236}">
                <a16:creationId xmlns:a16="http://schemas.microsoft.com/office/drawing/2014/main" id="{FE01C83F-FDA8-4FC3-B809-BCDD5CA98DA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Audit controls improve confidence without overstating performance</a:t>
            </a:r>
          </a:p>
        </p:txBody>
      </p:sp>
      <p:sp>
        <p:nvSpPr>
          <p:cNvPr id="3" name="Content-Placeholder-9-4">
            <a:extLst xmlns:a="http://schemas.openxmlformats.org/drawingml/2006/main">
              <a:ext uri="{FF2B5EF4-FFF2-40B4-BE49-F238E27FC236}">
                <a16:creationId xmlns:a16="http://schemas.microsoft.com/office/drawing/2014/main" id="{A889120F-58B5-4326-86B7-DCCB5665A73F}"/>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Calibration</a:t>
            </a:r>
          </a:p>
          <a:p xmlns:a="http://schemas.openxmlformats.org/drawingml/2006/main">
            <a:pPr algn="l">
              <a:defRPr sz="2400">
                <a:solidFill>
                  <a:srgbClr val="000000"/>
                </a:solidFill>
                <a:latin typeface="Helvetica Neue"/>
                <a:ea typeface="Helvetica Neue"/>
                <a:cs typeface="Helvetica Neue"/>
              </a:defRPr>
            </a:pPr>
            <a:r>
              <a:t>Sigmoid candidate: test Brier 0.000455; no test F1 uplift.</a:t>
            </a:r>
          </a:p>
        </p:txBody>
      </p:sp>
      <p:sp>
        <p:nvSpPr>
          <p:cNvPr id="4" name="Content-Placeholder-10-5">
            <a:extLst xmlns:a="http://schemas.openxmlformats.org/drawingml/2006/main">
              <a:ext uri="{FF2B5EF4-FFF2-40B4-BE49-F238E27FC236}">
                <a16:creationId xmlns:a16="http://schemas.microsoft.com/office/drawing/2014/main" id="{F58E8377-E3C1-42CF-BC73-73D3F96BFC25}"/>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Pseudo out-of-time</a:t>
            </a:r>
          </a:p>
          <a:p xmlns:a="http://schemas.openxmlformats.org/drawingml/2006/main">
            <a:pPr algn="l">
              <a:defRPr sz="2400">
                <a:solidFill>
                  <a:srgbClr val="000000"/>
                </a:solidFill>
                <a:latin typeface="Helvetica Neue"/>
                <a:ea typeface="Helvetica Neue"/>
                <a:cs typeface="Helvetica Neue"/>
              </a:defRPr>
            </a:pPr>
            <a:r>
              <a:t>F1 81.72% and PR-AUC 77.77% provide a conservative check.</a:t>
            </a:r>
          </a:p>
        </p:txBody>
      </p:sp>
      <p:sp>
        <p:nvSpPr>
          <p:cNvPr id="5" name="Content-Placeholder-9-6">
            <a:extLst xmlns:a="http://schemas.openxmlformats.org/drawingml/2006/main">
              <a:ext uri="{FF2B5EF4-FFF2-40B4-BE49-F238E27FC236}">
                <a16:creationId xmlns:a16="http://schemas.microsoft.com/office/drawing/2014/main" id="{4D9DF96E-B5DE-4A65-AD0A-89FAE8E35100}"/>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Provenance</a:t>
            </a:r>
          </a:p>
          <a:p xmlns:a="http://schemas.openxmlformats.org/drawingml/2006/main">
            <a:pPr algn="l">
              <a:defRPr sz="2400">
                <a:solidFill>
                  <a:srgbClr val="000000"/>
                </a:solidFill>
                <a:latin typeface="Helvetica Neue"/>
                <a:ea typeface="Helvetica Neue"/>
                <a:cs typeface="Helvetica Neue"/>
              </a:defRPr>
            </a:pPr>
            <a:r>
              <a:t>Model ID, SHA-256, split protocol, and threshold are bound together.</a:t>
            </a:r>
          </a:p>
        </p:txBody>
      </p:sp>
      <p:sp>
        <p:nvSpPr>
          <p:cNvPr id="6" name="Content-Placeholder-10-7">
            <a:extLst xmlns:a="http://schemas.openxmlformats.org/drawingml/2006/main">
              <a:ext uri="{FF2B5EF4-FFF2-40B4-BE49-F238E27FC236}">
                <a16:creationId xmlns:a16="http://schemas.microsoft.com/office/drawing/2014/main" id="{952DFAB4-552E-4AEE-913E-D954A0B8D6A1}"/>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Quality gate</a:t>
            </a:r>
          </a:p>
          <a:p xmlns:a="http://schemas.openxmlformats.org/drawingml/2006/main">
            <a:pPr algn="l">
              <a:defRPr sz="2400">
                <a:solidFill>
                  <a:srgbClr val="000000"/>
                </a:solidFill>
                <a:latin typeface="Helvetica Neue"/>
                <a:ea typeface="Helvetica Neue"/>
                <a:cs typeface="Helvetica Neue"/>
              </a:defRPr>
            </a:pPr>
            <a:r>
              <a:t>14 tests pass, 84% coverage, CI enabled, dashboard smoke-tested.</a:t>
            </a:r>
          </a:p>
        </p:txBody>
      </p:sp>
    </p:spTree>
    <p:extLst>
      <p:ext uri="{BB962C8B-B14F-4D97-AF65-F5344CB8AC3E}">
        <p14:creationId xmlns:p14="http://schemas.microsoft.com/office/powerpoint/2010/main" val="174980726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Title-3-1">
            <a:extLst xmlns:a="http://schemas.openxmlformats.org/drawingml/2006/main">
              <a:ext uri="{FF2B5EF4-FFF2-40B4-BE49-F238E27FC236}">
                <a16:creationId xmlns:a16="http://schemas.microsoft.com/office/drawing/2014/main" id="{C6ACE902-6A68-4196-BEE7-B1ABE5CEEAF4}"/>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Deploy as decision support,
not automatic blocking</a:t>
            </a:r>
          </a:p>
        </p:txBody>
      </p:sp>
      <p:sp>
        <p:nvSpPr>
          <p:cNvPr id="2" name="Subtitle-4-2">
            <a:extLst xmlns:a="http://schemas.openxmlformats.org/drawingml/2006/main">
              <a:ext uri="{FF2B5EF4-FFF2-40B4-BE49-F238E27FC236}">
                <a16:creationId xmlns:a16="http://schemas.microsoft.com/office/drawing/2014/main" id="{6DAB8885-6C37-438E-A8F0-A59EE1434245}"/>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Future-data validation</a:t>
            </a:r>
          </a:p>
          <a:p xmlns:a="http://schemas.openxmlformats.org/drawingml/2006/main">
            <a:pPr algn="l">
              <a:defRPr sz="2400">
                <a:solidFill>
                  <a:srgbClr val="000000"/>
                </a:solidFill>
                <a:latin typeface="Helvetica Neue"/>
                <a:ea typeface="Helvetica Neue"/>
                <a:cs typeface="Helvetica Neue"/>
              </a:defRPr>
            </a:pPr>
            <a:r>
              <a:t>Actual cost inputs</a:t>
            </a:r>
          </a:p>
          <a:p xmlns:a="http://schemas.openxmlformats.org/drawingml/2006/main">
            <a:pPr algn="l">
              <a:defRPr sz="2400">
                <a:solidFill>
                  <a:srgbClr val="000000"/>
                </a:solidFill>
                <a:latin typeface="Helvetica Neue"/>
                <a:ea typeface="Helvetica Neue"/>
                <a:cs typeface="Helvetica Neue"/>
              </a:defRPr>
            </a:pPr>
            <a:r>
              <a:t>Outcome monitoring</a:t>
            </a:r>
          </a:p>
        </p:txBody>
      </p:sp>
      <p:sp>
        <p:nvSpPr>
          <p:cNvPr id="3" name="Subtitle-4-3">
            <a:extLst xmlns:a="http://schemas.openxmlformats.org/drawingml/2006/main">
              <a:ext uri="{FF2B5EF4-FFF2-40B4-BE49-F238E27FC236}">
                <a16:creationId xmlns:a16="http://schemas.microsoft.com/office/drawing/2014/main" id="{53F00657-BCDF-49C1-8214-C97FCA7911AF}"/>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NEXT</a:t>
            </a:r>
          </a:p>
        </p:txBody>
      </p:sp>
    </p:spTree>
    <p:extLst>
      <p:ext uri="{BB962C8B-B14F-4D97-AF65-F5344CB8AC3E}">
        <p14:creationId xmlns:p14="http://schemas.microsoft.com/office/powerpoint/2010/main" val="2217002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2026-07-15T14:28:39.3280000Z</dcterms:created>
  <dcterms:modified xsi:type="dcterms:W3CDTF">2026-07-15T14:28:39.3280000Z</dcterms:modified>
</coreProperties>
</file>